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800" b="1" u="sng">
                <a:solidFill>
                  <a:srgbClr val="F59E0B"/>
                </a:solidFill>
                <a:latin typeface="Segoe UI"/>
              </a:defRPr>
            </a:pPr>
            <a:r>
              <a:t>AccessPath AI</a:t>
            </a:r>
          </a:p>
          <a:p>
            <a:pPr>
              <a:spcBef>
                <a:spcPts val="1000"/>
              </a:spcBef>
              <a:defRPr sz="1700">
                <a:solidFill>
                  <a:srgbClr val="E2E8F0"/>
                </a:solidFill>
                <a:latin typeface="Segoe UI"/>
              </a:defRPr>
            </a:pPr>
            <a:r>
              <a:t>“Don’t just test a website. Test whether a real person can actually complete the task.”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9601200" cy="3474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Segoe UI"/>
              </a:defRPr>
            </a:pPr>
            <a:r>
              <a:t>•   Main Objective  –  Task-Level Accessibility &amp; Usability Testing with Live AI Browser Agent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  <a:latin typeface="Segoe UI"/>
              </a:defRPr>
            </a:pPr>
            <a:r>
              <a:t>•   Hackathon  –  HackIIITD 2026 — Indraprastha Institute of Information Technology Delhi (IIIT-D)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  <a:latin typeface="Segoe UI"/>
              </a:defRPr>
            </a:pPr>
            <a:r>
              <a:t>•   Track / Theme  –  AI Browser Agents &amp; Public Infrastructure Usability (TinyFish Powered)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  <a:latin typeface="Segoe UI"/>
              </a:defRPr>
            </a:pPr>
            <a:r>
              <a:t>•   PS Category  –  Software / Web Accessibility / Autonomous Testing</a:t>
            </a:r>
          </a:p>
          <a:p>
            <a:pPr>
              <a:spcBef>
                <a:spcPts val="1400"/>
              </a:spcBef>
              <a:defRPr sz="1400" b="1">
                <a:solidFill>
                  <a:srgbClr val="FDE047"/>
                </a:solidFill>
                <a:latin typeface="Segoe UI"/>
              </a:defRPr>
            </a:pPr>
            <a:r>
              <a:t>•   Team Name (Registered on portal)  –  [Team Name Placeholder]</a:t>
            </a:r>
          </a:p>
          <a:p>
            <a:pPr>
              <a:spcBef>
                <a:spcPts val="1400"/>
              </a:spcBef>
              <a:defRPr sz="1400" b="1">
                <a:solidFill>
                  <a:srgbClr val="FDE047"/>
                </a:solidFill>
                <a:latin typeface="Segoe UI"/>
              </a:defRPr>
            </a:pPr>
            <a:r>
              <a:t>•   Team Members  –  [Member 1, Member 2, Member 3, Member 4 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47472"/>
            <a:ext cx="438912" cy="438912"/>
          </a:xfrm>
          <a:prstGeom prst="ellipse">
            <a:avLst/>
          </a:prstGeom>
          <a:solidFill>
            <a:srgbClr val="8C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SECTION 01</a:t>
            </a:r>
          </a:p>
          <a:p>
            <a:pPr>
              <a:spcBef>
                <a:spcPts val="100"/>
              </a:spcBef>
              <a:defRPr sz="2200" b="1">
                <a:solidFill>
                  <a:srgbClr val="102542"/>
                </a:solidFill>
                <a:latin typeface="Segoe UI"/>
              </a:defRPr>
            </a:pPr>
            <a:r>
              <a:t>Idea / Approach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5855" cy="16459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Segoe UI"/>
              </a:defRPr>
            </a:pPr>
            <a:r>
              <a:t>Section 01 of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120640" cy="5029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 u="sng">
                <a:solidFill>
                  <a:srgbClr val="102542"/>
                </a:solidFill>
                <a:latin typeface="Segoe UI"/>
              </a:defRPr>
            </a:pPr>
            <a:r>
              <a:t>Problem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Websites often pass technical accessibility checklists yet remain completely unusable for real people. While static scanners verify HTML tags and contrast, they cannot verify whether a real person can complete end-to-end tasks like submitting a scholarship or uploading required documents.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Organizations need an automated, task-first testing platform that detects where and why users get stuck across dynamic forms, mobile viewports, and regional languages.</a:t>
            </a:r>
          </a:p>
          <a:p>
            <a:pPr>
              <a:spcBef>
                <a:spcPts val="1600"/>
              </a:spcBef>
              <a:defRPr sz="1900" b="1" u="sng">
                <a:solidFill>
                  <a:srgbClr val="102542"/>
                </a:solidFill>
                <a:latin typeface="Segoe UI"/>
              </a:defRPr>
            </a:pPr>
            <a:r>
              <a:t>Solution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AccessPath AI deploys a live AI browser agent to autonomously attempt real tasks on live portals from diverse user perspectives (mobile-first, Hindi-speaking, low digital-literacy).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When a user encounters a friction point or unrecoverable barrier, the system captures step evidence, computes a Task Success Score (0–100), and provides actionable engineering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234440"/>
            <a:ext cx="576072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 u="sng">
                <a:solidFill>
                  <a:srgbClr val="102542"/>
                </a:solidFill>
                <a:latin typeface="Segoe UI"/>
              </a:defRPr>
            </a:pPr>
            <a:r>
              <a:t>What Makes It Different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Task-First Usability Over Static Compliance</a:t>
            </a:r>
            <a:br/>
            <a:r>
              <a:t>Unlike static WCAG scanners that inspect code in isolation, AccessPath AI evaluates the complete multi-step journey on the live website.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Persona-Aware Execution: Define ➔ Execute ➔ Detect ➔ Improve</a:t>
            </a:r>
            <a:br/>
            <a:r>
              <a:t>Simulates realistic personas (device constraints, language hurdles, low literacy) to uncover hidden UX dead ends that traditional linters completely miss.</a:t>
            </a:r>
          </a:p>
        </p:txBody>
      </p:sp>
      <p:pic>
        <p:nvPicPr>
          <p:cNvPr id="8" name="Picture 7" descr="prototyp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977639"/>
            <a:ext cx="578815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47472"/>
            <a:ext cx="438912" cy="438912"/>
          </a:xfrm>
          <a:prstGeom prst="ellipse">
            <a:avLst/>
          </a:prstGeom>
          <a:solidFill>
            <a:srgbClr val="8C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SECTION 02</a:t>
            </a:r>
          </a:p>
          <a:p>
            <a:pPr>
              <a:spcBef>
                <a:spcPts val="100"/>
              </a:spcBef>
              <a:defRPr sz="2200" b="1">
                <a:solidFill>
                  <a:srgbClr val="102542"/>
                </a:solidFill>
                <a:latin typeface="Segoe UI"/>
              </a:defRPr>
            </a:pPr>
            <a: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5855" cy="16459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Segoe UI"/>
              </a:defRPr>
            </a:pPr>
            <a:r>
              <a:t>Section 02 of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37490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102542"/>
                </a:solidFill>
                <a:latin typeface="Segoe UI"/>
              </a:defRPr>
            </a:pPr>
            <a:r>
              <a:t>PROCESS &amp; ARCHITECTURAL PIPELINE: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➢ 1. Test Specification Layer: Accepts Target URL, Goal Task ('Apply for Scholarship'), and User Persona profile (Mobile, Hindi, First-Time User).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➢ 2. Live Web Agent Layer (TinyFish): Spawns autonomous browser session executing real clicks, input typing, dropdown selects, and dynamic modal navigation.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➢ 3. Observation &amp; Barrier Detection: Monitors execution telemetry, detecting DOM dead ends, cognitive friction, confusing controls, and silent form rejections.</a:t>
            </a:r>
          </a:p>
          <a:p>
            <a:pPr>
              <a:spcBef>
                <a:spcPts val="8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➢ 4. Audit &amp; Diagnostic Engine: Computes Task Success Score (0-100), captures failure screenshots, and outputs engineering remediation guidance.</a:t>
            </a:r>
          </a:p>
          <a:p>
            <a:pPr>
              <a:spcBef>
                <a:spcPts val="1200"/>
              </a:spcBef>
              <a:defRPr sz="1050" b="1">
                <a:solidFill>
                  <a:srgbClr val="2563EB"/>
                </a:solidFill>
                <a:latin typeface="Segoe UI"/>
              </a:defRPr>
            </a:pPr>
            <a:r>
              <a:t>User Input ➔ TinyFish Agent ➔ Live Portal ➔ Friction Detection ➔ Task Score &amp;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800" b="1" u="sng">
                <a:solidFill>
                  <a:srgbClr val="102542"/>
                </a:solidFill>
                <a:latin typeface="Segoe UI"/>
              </a:defRPr>
            </a:pPr>
            <a:r>
              <a:t>Prototype :</a:t>
            </a:r>
          </a:p>
        </p:txBody>
      </p:sp>
      <p:pic>
        <p:nvPicPr>
          <p:cNvPr id="8" name="Picture 7" descr="prototyp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40680" cy="3520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440680"/>
            <a:ext cx="11185855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532120"/>
            <a:ext cx="1078992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02542"/>
                </a:solidFill>
                <a:latin typeface="Segoe UI"/>
              </a:defRPr>
            </a:pPr>
            <a:r>
              <a:t>TECH STACK:</a:t>
            </a:r>
          </a:p>
          <a:p>
            <a:pPr>
              <a:spcBef>
                <a:spcPts val="400"/>
              </a:spcBef>
              <a:defRPr sz="1200" b="1">
                <a:solidFill>
                  <a:srgbClr val="141821"/>
                </a:solidFill>
                <a:latin typeface="Segoe UI"/>
              </a:defRPr>
            </a:pPr>
            <a:r>
              <a:t>Web Agent: TinyFish Web Agent API     •     Frontend: React.js + TypeScript + TailwindCSS     •     Backend: Python + FastAPI     •     Analysis: Vision LLM Reasoner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47472"/>
            <a:ext cx="438912" cy="438912"/>
          </a:xfrm>
          <a:prstGeom prst="ellipse">
            <a:avLst/>
          </a:prstGeom>
          <a:solidFill>
            <a:srgbClr val="8C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SECTION 03</a:t>
            </a:r>
          </a:p>
          <a:p>
            <a:pPr>
              <a:spcBef>
                <a:spcPts val="100"/>
              </a:spcBef>
              <a:defRPr sz="2200" b="1">
                <a:solidFill>
                  <a:srgbClr val="102542"/>
                </a:solidFill>
                <a:latin typeface="Segoe UI"/>
              </a:defRPr>
            </a:pPr>
            <a: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5855" cy="16459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Segoe UI"/>
              </a:defRPr>
            </a:pPr>
            <a:r>
              <a:t>Section 03 of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474720" cy="4937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700" b="1" u="sng">
                <a:solidFill>
                  <a:srgbClr val="102542"/>
                </a:solidFill>
                <a:latin typeface="Segoe UI"/>
              </a:defRPr>
            </a:pPr>
            <a:r>
              <a:t>Social &amp; Citizen Impact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Equitable Public Services: Ensures students and rural citizens can successfully complete scholarship, pension, and welfare applications without agent exploitation.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Overcoming Digital Literacy Barriers: Detects UI jargon and language hurdles that cause first-time users to abandon critical government portals.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Assistive Dignity: Verifies functional completion for screen-reader and mobile users beyond surface-level tag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2544" y="1280160"/>
            <a:ext cx="3474720" cy="4937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700" b="1" u="sng">
                <a:solidFill>
                  <a:srgbClr val="102542"/>
                </a:solidFill>
                <a:latin typeface="Segoe UI"/>
              </a:defRPr>
            </a:pPr>
            <a:r>
              <a:t>Economic &amp; Operational Impact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Dramatically Cheaper Usability Audits: Automates multi-persona user testing that traditionally costs thousands of dollars and weeks of manual user research.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Reduced Support Desk Ticket Volume: Eliminating submission drop-offs cuts grievance tickets, helpline congestion, and manual document re-submissions.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Increased Form Completion Rates: Organizations capture higher digital service adoption and revenue throughput across public and commercial portals.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2168" y="1280160"/>
            <a:ext cx="3474720" cy="4937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700" b="1" u="sng">
                <a:solidFill>
                  <a:srgbClr val="102542"/>
                </a:solidFill>
                <a:latin typeface="Segoe UI"/>
              </a:defRPr>
            </a:pPr>
            <a:r>
              <a:t>Target Sectors &amp; Deployment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Government Public Portals: National &amp; State scholarship portals, Direct Benefit Transfer (DBT), ration card and revenue services.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Universities &amp; Colleges: Admissions, entrance test registration, fee payment, and examination portals.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Banking &amp; FinTech: Digital KYC onboarding, micro-credit applications, insurance claim submission flows.</a:t>
            </a:r>
          </a:p>
          <a:p>
            <a:pPr>
              <a:spcBef>
                <a:spcPts val="10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&gt; Healthcare &amp; Telemedicine: Appointment booking, diagnostic report retrieval, and health scheme registrations.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47472"/>
            <a:ext cx="438912" cy="438912"/>
          </a:xfrm>
          <a:prstGeom prst="ellipse">
            <a:avLst/>
          </a:prstGeom>
          <a:solidFill>
            <a:srgbClr val="8C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SECTION 04</a:t>
            </a:r>
          </a:p>
          <a:p>
            <a:pPr>
              <a:spcBef>
                <a:spcPts val="100"/>
              </a:spcBef>
              <a:defRPr sz="2200" b="1">
                <a:solidFill>
                  <a:srgbClr val="102542"/>
                </a:solidFill>
                <a:latin typeface="Segoe UI"/>
              </a:defRPr>
            </a:pPr>
            <a:r>
              <a:t>TinyFish Integration &amp; Technical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5855" cy="16459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Segoe UI"/>
              </a:defRPr>
            </a:pPr>
            <a:r>
              <a:t>Section 04 of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 u="sng">
                <a:solidFill>
                  <a:srgbClr val="102542"/>
                </a:solidFill>
                <a:latin typeface="Segoe UI"/>
              </a:defRPr>
            </a:pPr>
            <a:r>
              <a:t>Potential Challenges</a:t>
            </a:r>
          </a:p>
          <a:p>
            <a:pPr>
              <a:spcBef>
                <a:spcPts val="1200"/>
              </a:spcBef>
              <a:defRPr sz="1150">
                <a:solidFill>
                  <a:srgbClr val="141821"/>
                </a:solidFill>
                <a:latin typeface="Segoe UI"/>
              </a:defRPr>
            </a:pPr>
            <a:r>
              <a:t>➢ Dynamic Client-Rendered SPAs &amp; Popups</a:t>
            </a:r>
            <a:br/>
            <a:r>
              <a:t>Modern portals rely heavily on React/Vue, asynchronous validation, modal popups, and anti-bot checks that break basic headless scrapers.</a:t>
            </a:r>
          </a:p>
          <a:p>
            <a:pPr>
              <a:spcBef>
                <a:spcPts val="1200"/>
              </a:spcBef>
              <a:defRPr sz="1150">
                <a:solidFill>
                  <a:srgbClr val="141821"/>
                </a:solidFill>
                <a:latin typeface="Segoe UI"/>
              </a:defRPr>
            </a:pPr>
            <a:r>
              <a:t>➢ Subjective Cognitive Usability vs Bugs</a:t>
            </a:r>
            <a:br/>
            <a:r>
              <a:t>Distinguishing between a broken HTML element and a confusing UX layout (e.g. buried upload button) requires reasoning, not just DOM parsing.</a:t>
            </a:r>
          </a:p>
          <a:p>
            <a:pPr>
              <a:spcBef>
                <a:spcPts val="1200"/>
              </a:spcBef>
              <a:defRPr sz="1150">
                <a:solidFill>
                  <a:srgbClr val="141821"/>
                </a:solidFill>
                <a:latin typeface="Segoe UI"/>
              </a:defRPr>
            </a:pPr>
            <a:r>
              <a:t>➢ Execution Latency &amp; Site Flakiness</a:t>
            </a:r>
            <a:br/>
            <a:r>
              <a:t>Live multi-step web browsing can encounter slow government servers, dynamic reloads, or temporary network timeouts.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280160"/>
            <a:ext cx="5650992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 u="sng">
                <a:solidFill>
                  <a:srgbClr val="102542"/>
                </a:solidFill>
                <a:latin typeface="Segoe UI"/>
              </a:defRPr>
            </a:pPr>
            <a:r>
              <a:t>Mitigation &amp; TinyFish Division</a:t>
            </a:r>
          </a:p>
          <a:p>
            <a:pPr>
              <a:spcBef>
                <a:spcPts val="1200"/>
              </a:spcBef>
              <a:defRPr sz="1150">
                <a:solidFill>
                  <a:srgbClr val="141821"/>
                </a:solidFill>
                <a:latin typeface="Segoe UI"/>
              </a:defRPr>
            </a:pPr>
            <a:r>
              <a:t>➢ TinyFish as Web Interaction Layer</a:t>
            </a:r>
            <a:br/>
            <a:r>
              <a:t>TinyFish serves as the autonomous 'eyes and hands'—handling live browser control, DOM interactions, resilient retries, and multi-page flows seamlessly.</a:t>
            </a:r>
          </a:p>
          <a:p>
            <a:pPr>
              <a:spcBef>
                <a:spcPts val="1200"/>
              </a:spcBef>
              <a:defRPr sz="1150">
                <a:solidFill>
                  <a:srgbClr val="141821"/>
                </a:solidFill>
                <a:latin typeface="Segoe UI"/>
              </a:defRPr>
            </a:pPr>
            <a:r>
              <a:t>➢ AccessPath as Cognitive Analysis Layer</a:t>
            </a:r>
            <a:br/>
            <a:r>
              <a:t>AccessPath evaluates task intent, scores cognitive friction, and explains exactly why the user journey failed with visual evidence.</a:t>
            </a:r>
          </a:p>
          <a:p>
            <a:pPr>
              <a:spcBef>
                <a:spcPts val="1200"/>
              </a:spcBef>
              <a:defRPr sz="1150">
                <a:solidFill>
                  <a:srgbClr val="141821"/>
                </a:solidFill>
                <a:latin typeface="Segoe UI"/>
              </a:defRPr>
            </a:pPr>
            <a:r>
              <a:t>➢ Graceful Degradation &amp; Step Checkpoints</a:t>
            </a:r>
            <a:br/>
            <a:r>
              <a:t>System records deterministic telemetry at each step; if a live network stall occurs, prior completed steps remain cached and auditable.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06440"/>
            <a:ext cx="11185855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200" b="1">
                <a:solidFill>
                  <a:srgbClr val="102542"/>
                </a:solidFill>
                <a:latin typeface="Segoe UI"/>
              </a:defRPr>
            </a:pPr>
            <a:r>
              <a:t>TINYFISH WEB AGENT  •  COGNITIVE BARRIER DETECTION  •  FAIL-SOFT AUDIT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47472"/>
            <a:ext cx="438912" cy="438912"/>
          </a:xfrm>
          <a:prstGeom prst="ellipse">
            <a:avLst/>
          </a:prstGeom>
          <a:solidFill>
            <a:srgbClr val="8C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SECTION 05</a:t>
            </a:r>
          </a:p>
          <a:p>
            <a:pPr>
              <a:spcBef>
                <a:spcPts val="100"/>
              </a:spcBef>
              <a:defRPr sz="2200" b="1">
                <a:solidFill>
                  <a:srgbClr val="102542"/>
                </a:solidFill>
                <a:latin typeface="Segoe UI"/>
              </a:defRPr>
            </a:pPr>
            <a:r>
              <a:t>Research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5855" cy="16459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Segoe UI"/>
              </a:defRPr>
            </a:pPr>
            <a:r>
              <a:t>Section 05 of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4937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141821"/>
                </a:solidFill>
                <a:latin typeface="Segoe UI"/>
              </a:defRPr>
            </a:pPr>
            <a:r>
              <a:t>1. World Wide Web Consortium (W3C), “Web Content Accessibility Guidelines (WCAG) 2.2,” W3C Recommendation, Oct 2023.</a:t>
            </a:r>
            <a:br/>
            <a:r>
              <a:t>    https://www.w3.org/TR/WCAG22/</a:t>
            </a:r>
          </a:p>
          <a:p>
            <a:pPr>
              <a:spcBef>
                <a:spcPts val="11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2. Ministry of Electronics and Information Technology (MeitY), Govt. of India, “Guidelines for Indian Government Websites (GIGW 3.0),” 2023.</a:t>
            </a:r>
            <a:br/>
            <a:r>
              <a:t>    https://guidelines.gov.in/</a:t>
            </a:r>
          </a:p>
          <a:p>
            <a:pPr>
              <a:spcBef>
                <a:spcPts val="11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3. WebAIM, “The WebAIM Million: An annual accessibility analysis of the top 1,000,000 home pages,” WebAIM Research Report, 2024.</a:t>
            </a:r>
            <a:br/>
            <a:r>
              <a:t>    https://webaim.org/projects/million/</a:t>
            </a:r>
          </a:p>
          <a:p>
            <a:pPr>
              <a:spcBef>
                <a:spcPts val="11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4. Zhou S. et al., “WebArena: A Realistic Web Environment for Building Autonomous Agents,” International Conference on Learning Representations (ICLR), 2024.</a:t>
            </a:r>
            <a:br/>
            <a:r>
              <a:t>    https://arxiv.org/abs/2307.13854</a:t>
            </a:r>
          </a:p>
          <a:p>
            <a:pPr>
              <a:spcBef>
                <a:spcPts val="11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5. Gur I. et al., “A Real-World WebAgent with Planning, Long Context Understanding, and HTML Pruning,” Advances in Neural Information Processing Systems (NeurIPS), 2023.</a:t>
            </a:r>
            <a:br/>
            <a:r>
              <a:t>    https://arxiv.org/abs/2307.12856</a:t>
            </a:r>
          </a:p>
          <a:p>
            <a:pPr>
              <a:spcBef>
                <a:spcPts val="11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6. Power C. et al., “Guidelines Are Only Half of the Story: How Accessibility Guidelines Fail People with Disabilities,” ACM CHI Conference on Human Factors in Computing Systems, 2012.</a:t>
            </a:r>
            <a:br/>
            <a:r>
              <a:t>    https://dl.acm.org/doi/10.1145/2207676.2207736</a:t>
            </a:r>
          </a:p>
          <a:p>
            <a:pPr>
              <a:spcBef>
                <a:spcPts val="1100"/>
              </a:spcBef>
              <a:defRPr sz="1100">
                <a:solidFill>
                  <a:srgbClr val="141821"/>
                </a:solidFill>
                <a:latin typeface="Segoe UI"/>
              </a:defRPr>
            </a:pPr>
            <a:r>
              <a:t>7. National e-Governance Division (NeGD), “Digital India Usability and Citizen Interface Standards,” MeitY, 2022.</a:t>
            </a:r>
            <a:br/>
            <a:r>
              <a:t>    https://www.digitalindia.gov.in/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47472"/>
            <a:ext cx="438912" cy="438912"/>
          </a:xfrm>
          <a:prstGeom prst="ellipse">
            <a:avLst/>
          </a:prstGeom>
          <a:solidFill>
            <a:srgbClr val="8C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SECTION 06</a:t>
            </a:r>
          </a:p>
          <a:p>
            <a:pPr>
              <a:spcBef>
                <a:spcPts val="100"/>
              </a:spcBef>
              <a:defRPr sz="2200" b="1">
                <a:solidFill>
                  <a:srgbClr val="102542"/>
                </a:solidFill>
                <a:latin typeface="Segoe UI"/>
              </a:defRPr>
            </a:pPr>
            <a:r>
              <a:t>Solution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5855" cy="16459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Segoe UI"/>
              </a:defRPr>
            </a:pPr>
            <a:r>
              <a:t>Section 06 of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20116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00" b="1">
                <a:solidFill>
                  <a:srgbClr val="8C1D18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325880"/>
            <a:ext cx="457200" cy="777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600" b="1">
                <a:solidFill>
                  <a:srgbClr val="102542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325880"/>
            <a:ext cx="84124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141821"/>
                </a:solidFill>
                <a:latin typeface="Segoe UI"/>
              </a:defRPr>
            </a:pPr>
            <a:r>
              <a:t>Websites can be technically compliant under static WCAG rules and yet remain impossible for citizens to use. Static code checkers only inspect isolated syntax tags, missing end-to-end user friction, mobile viewport traps, and Hindi language barriers on real portals.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0116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00" b="1">
                <a:solidFill>
                  <a:srgbClr val="8C1D18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86000"/>
            <a:ext cx="457200" cy="777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600" b="1">
                <a:solidFill>
                  <a:srgbClr val="102542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86000"/>
            <a:ext cx="84124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141821"/>
                </a:solidFill>
                <a:latin typeface="Segoe UI"/>
              </a:defRPr>
            </a:pPr>
            <a:r>
              <a:t>AccessPath AI pairs a live AI browser agent (powered by TinyFish) with task-level cognitive diagnostics. It tests live websites from specific user persona perspectives, executing the full workflow to verify whether a real person can actually achieve their goal.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20116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00" b="1">
                <a:solidFill>
                  <a:srgbClr val="8C1D18"/>
                </a:solidFill>
                <a:latin typeface="Segoe UI"/>
              </a:defRPr>
            </a:pPr>
            <a:r>
              <a:t>Novelty / USP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246120"/>
            <a:ext cx="457200" cy="777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600" b="1">
                <a:solidFill>
                  <a:srgbClr val="102542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46120"/>
            <a:ext cx="84124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141821"/>
                </a:solidFill>
                <a:latin typeface="Segoe UI"/>
              </a:defRPr>
            </a:pPr>
            <a:r>
              <a:t>Task-first outcome testing rather than page-level checklists. Provides persona-aware simulation, live web multi-step execution, and an objective Task Success Score (0-100) with visual evidence and engineering remediation.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20116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00" b="1">
                <a:solidFill>
                  <a:srgbClr val="8C1D18"/>
                </a:solidFill>
                <a:latin typeface="Segoe UI"/>
              </a:defRPr>
            </a:pPr>
            <a:r>
              <a:t>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206240"/>
            <a:ext cx="457200" cy="777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600" b="1">
                <a:solidFill>
                  <a:srgbClr val="102542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206240"/>
            <a:ext cx="84124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141821"/>
                </a:solidFill>
                <a:latin typeface="Segoe UI"/>
              </a:defRPr>
            </a:pPr>
            <a:r>
              <a:t>Feasible 24-hour hackathon prototype combining TinyFish Web Agent API for autonomous browsing, React/Tailwind for the audit console, and Python/LLM reasoning for barrier scoring and recommendations.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66359"/>
            <a:ext cx="20116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00" b="1">
                <a:solidFill>
                  <a:srgbClr val="8C1D18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166359"/>
            <a:ext cx="457200" cy="777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600" b="1">
                <a:solidFill>
                  <a:srgbClr val="102542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5166359"/>
            <a:ext cx="84124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141821"/>
                </a:solidFill>
                <a:latin typeface="Segoe UI"/>
              </a:defRPr>
            </a:pPr>
            <a:r>
              <a:t>CITIZEN ACCESS: Enables students and rural users to complete critical welfare and scholarship forms.</a:t>
            </a:r>
            <a:br/>
            <a:r>
              <a:t>ORGANIZATIONAL EFFICIENCY: Lowers usability testing costs and prevents grievance ticket backlogs.</a:t>
            </a:r>
            <a:br/>
            <a:r>
              <a:t>OUTCOME ACCOUNTABILITY: Moves web accessibility evaluation from passive checklists to proven task completion.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47472"/>
            <a:ext cx="438912" cy="438912"/>
          </a:xfrm>
          <a:prstGeom prst="ellipse">
            <a:avLst/>
          </a:prstGeom>
          <a:solidFill>
            <a:srgbClr val="8C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56032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SECTION 07</a:t>
            </a:r>
          </a:p>
          <a:p>
            <a:pPr>
              <a:spcBef>
                <a:spcPts val="100"/>
              </a:spcBef>
              <a:defRPr sz="2200" b="1">
                <a:solidFill>
                  <a:srgbClr val="102542"/>
                </a:solidFill>
                <a:latin typeface="Segoe UI"/>
              </a:defRPr>
            </a:pPr>
            <a:r>
              <a:t>The Big Idea: Accessibility Measured by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5855" cy="16459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950">
                <a:solidFill>
                  <a:srgbClr val="475569"/>
                </a:solidFill>
                <a:latin typeface="Segoe UI"/>
              </a:defRPr>
            </a:pPr>
            <a:r>
              <a:t>Section 07 of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85855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Segoe UI"/>
              </a:defRPr>
            </a:pPr>
            <a:r>
              <a:t>“Traditional Testing Asks: ‘Does the website pass a code checklist?’</a:t>
            </a:r>
          </a:p>
          <a:p>
            <a:pPr>
              <a:spcBef>
                <a:spcPts val="600"/>
              </a:spcBef>
              <a:defRPr sz="2000" b="1">
                <a:solidFill>
                  <a:srgbClr val="102542"/>
                </a:solidFill>
                <a:latin typeface="Segoe UI"/>
              </a:defRPr>
            </a:pPr>
            <a:r>
              <a:t>AccessPath AI Asks: ‘Can a real human being actually complete the task?’”</a:t>
            </a:r>
          </a:p>
          <a:p>
            <a:pPr>
              <a:spcBef>
                <a:spcPts val="600"/>
              </a:spcBef>
              <a:defRPr sz="1300">
                <a:solidFill>
                  <a:srgbClr val="2563EB"/>
                </a:solidFill>
                <a:latin typeface="Segoe UI"/>
              </a:defRPr>
            </a:pPr>
            <a:r>
              <a:t>AccessPath AI helps organizations build websites that people can actually use — not just websites that pass a checklist.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54680"/>
            <a:ext cx="11185855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042416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8C1D18"/>
                </a:solidFill>
                <a:latin typeface="Segoe UI"/>
              </a:defRPr>
            </a:pPr>
            <a:r>
              <a:t>SUBMISSION &amp; TEAM DETAILS</a:t>
            </a:r>
          </a:p>
          <a:p>
            <a:pPr>
              <a:spcBef>
                <a:spcPts val="600"/>
              </a:spcBef>
              <a:defRPr sz="1200">
                <a:solidFill>
                  <a:srgbClr val="141821"/>
                </a:solidFill>
                <a:latin typeface="Segoe UI"/>
              </a:defRPr>
            </a:pPr>
            <a:r>
              <a:t>•  Hackathon Event:  HackIIITD 2026 — IIIT Delhi (TinyFish Web Agent Track)</a:t>
            </a:r>
          </a:p>
          <a:p>
            <a:pPr>
              <a:spcBef>
                <a:spcPts val="600"/>
              </a:spcBef>
              <a:defRPr sz="1200">
                <a:solidFill>
                  <a:srgbClr val="141821"/>
                </a:solidFill>
                <a:latin typeface="Segoe UI"/>
              </a:defRPr>
            </a:pPr>
            <a:r>
              <a:t>•  Project Name:  AccessPath AI</a:t>
            </a:r>
          </a:p>
          <a:p>
            <a:pPr>
              <a:spcBef>
                <a:spcPts val="600"/>
              </a:spcBef>
              <a:defRPr sz="1200">
                <a:solidFill>
                  <a:srgbClr val="141821"/>
                </a:solidFill>
                <a:latin typeface="Segoe UI"/>
              </a:defRPr>
            </a:pPr>
            <a:r>
              <a:t>•  Team Name (Registered):  ___________________________  [Space for Team Name]</a:t>
            </a:r>
          </a:p>
          <a:p>
            <a:pPr>
              <a:spcBef>
                <a:spcPts val="600"/>
              </a:spcBef>
              <a:defRPr sz="1200">
                <a:solidFill>
                  <a:srgbClr val="141821"/>
                </a:solidFill>
                <a:latin typeface="Segoe UI"/>
              </a:defRPr>
            </a:pPr>
            <a:r>
              <a:t>•  Team Leader:  ___________________________  [Name, Email / Contact]</a:t>
            </a:r>
          </a:p>
          <a:p>
            <a:pPr>
              <a:spcBef>
                <a:spcPts val="600"/>
              </a:spcBef>
              <a:defRPr sz="1200">
                <a:solidFill>
                  <a:srgbClr val="141821"/>
                </a:solidFill>
                <a:latin typeface="Segoe UI"/>
              </a:defRPr>
            </a:pPr>
            <a:r>
              <a:t>•  Team Members:  1. ___________________________________</a:t>
            </a:r>
            <a:br/>
            <a:r>
              <a:t>2. ___________________________________</a:t>
            </a:r>
            <a:br/>
            <a:r>
              <a:t>3. ___________________________________</a:t>
            </a:r>
          </a:p>
          <a:p>
            <a:pPr>
              <a:spcBef>
                <a:spcPts val="600"/>
              </a:spcBef>
              <a:defRPr sz="1200">
                <a:solidFill>
                  <a:srgbClr val="141821"/>
                </a:solidFill>
                <a:latin typeface="Segoe UI"/>
              </a:defRPr>
            </a:pPr>
            <a:r>
              <a:t>•  GitHub Repository:  https://github.com/___________________  [Prototype Repo]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